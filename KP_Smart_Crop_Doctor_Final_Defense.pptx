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an integrated AI/ML advisory prototype (vision + explainability + retrieval + bilingual output), not only a disease classifier. Duration 12 weeks under EDSIY-KP Package G6.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matters: three gaps - opaque labels, risk of ungrounded chemical advice, and English-only delivery. Scope is deliberately narrow: 3 crops, 11 classes, advisory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left-to-right: the vision branch (green) produces crop/disease metadata and a Grad-CAM; that metadata conditions retrieval (teal); the synthesiser (amber) only copies from retrieved passages. Key contribution: vision output filters retrieval, so the stages are coupled, not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Leakage control: multiple photos of one leaf inflate test accuracy. We grouped images by leaf session from file naming, forced near-duplicates (dHash Hamming distance &lt;= 4) into the same partition, and used a group-stratified 70/15/15 split. Tests found no leaf cluster shared across splits. Limit: this cannot exclude near-duplicates both checks miss. Class-weighted loss handles imbalance (e.g. 108 healthy-potato training images).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MobileNetV3? Both backbones were fine-tuned under identical conditions (seed 42, AdamW, cosine LR, class-weighted loss, up to 10 epochs). Selection was made on validation macro-F1 before the test set was evaluated. MobileNetV3 was more accurate, faster on CPU and better calibrated, at similar size - important for a CPU-deployable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97.53% field accuracy? No. It is held-out test-set performance on laboratory-condition images from a leak-controlled split; it is an upper bound for field use and requires prospective field validation in KP. All 34 errors stay within a crop; 23 (67.6%) are maize gray leaf spot vs northern leaf blight.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Grad-CAM weights the 960 feature maps at the last convolution (features.16, 7x7) by globally pooled class gradients, applies ReLU, upsamples and overlays. For disease classes salience generally coincides with lesions; for healthy leaves it is diffuse. The map is coarse (7x7) and does not establish biological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was Grad-CAM validated? Following Adebayo et al. (2018) we recomputed maps on a randomised-parameter model. Maps changed completely, so they depend on learned weights. Caveats: only four images; randomised maps are constant so Pearson r is degenerate (0.0000) and Spearman/MAE carry the comparison. A larger sample would strengthen the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RAG? Advice must be traceable to extension bulletins. Why FAISS? A local, exact inner-product index over 164 passages - fast on CPU, no network. Why deterministic extraction instead of LLM generation? It cannot introduce unretrieved dosages or trade names; every sentence maps to a source passage. Unsupported crops: a crop whitelist plus cosine threshold (0.45) abstains (4/4 correct).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Ablation: unfiltered semantic search returned the wrong crop in 13.33% of queries (e.g. potato early blight for a generic maize query); conditioning on the vision output reduced this to 0%. Groundedness of 100% on the 15-case benchmark verifies the extractive implementation; it is faithful by construction and does not measure a generative model. The real limit is bulletin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Urdu: a 33-term agricultural glossary; Latin binomials (e.g. Phytophthora infestans) and citation keys are protected by tokens before translation and restored verbatim, so pathogen and chemical names are never altered. Right-to-left CSS and Noto Nastaliq typography. Localisation changes text length by about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17 cases: 11 canonical, 2 difficult borderline, 4 out-of-scope. All executed without unhandled exceptions. Diagnostic accuracy 92.31% (12/13); abstention 4/4; citation linkage 13/13. Small evaluation set - indicative only. Table V latencies come from the end-to-end harness and should not be compared with the per-image benchmark in the model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direct: 97.53% is an upper bound. Domain shift (glare, weeds, blur, co-infections), closed-set softmax (unseen crops forced into nearest class; guardrail and Top-2 mitigate but do not remove this), 7x7 Grad-CAM, four-image sanity test, 17-case end-to-end set, and a static 11-bulletin knowledge base. Chemical advice carries toxicological and environmental risk, so the tool supplements licensed on-site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story: an integrated AI/ML prototype in which the vision output explains itself (Grad-CAM), conditions retrieval (metadata filtering), and feeds a source-constrained advisory in two languages. Each claim is bounded by the evaluation scale stated on the limitations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work follows directly from the limitations: field data from Swat, Mardan and Abbottabad; more crops; open-set rejection; Pashto speech interface; INT8 mobile export. Course context: EDSIY-KP Package G6 - AI &amp; ML, intermediate level, 144 contact hours over 12 weeks (3 sessions/week x 4 hours), physical and online; target audience youth aged 18-35 from KP.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5669280" y="32004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mnt/user-data/uploads/179093852868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448056"/>
            <a:ext cx="2743200" cy="60710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11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  |  AGRICULTURE &amp; SUSTAINABILITY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 Smart Crop Doctor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057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9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Explainable AI and Retrieval-Augmented Agricultural Advisory System for Khyber Pakhtunkhwa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(CNN / Transfer Learning)  ·  Grad-CAM  ·  Retrieval-Augmented Generation  ·  Deterministic Extractive Synthesis  ·  Streamlit (English / Urdu)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Saqib Hussain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Management Sciences (IM|Sciences), Peshawar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Employable Digital Skills Initiative for Youth (EDSIY-KP)  ·  Package G6 – Artificial Intelligence and Machine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  ·  144 contact hours  ·  Date: 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Disease Diagnosis Needs More Than a Label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44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Opaque predictions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73352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class label is neither actionable nor auditable. Users cannot see whether the model looked at the lesion or the background.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898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06140" y="1344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Ungrounded advice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06140" y="1673352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language-model generation can invent pesticides or dosages. Advice must be traceable to a source.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2344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344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Language barrier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73352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literature is largely English, while many intended users read Urdu.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buNone/>
            </a:pPr>
            <a:r>
              <a:rPr lang="en-US" sz="13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Apple, Maize and Potato  ·  11 disease and healthy classes  ·  Khyber Pakhtunkhwa leaf diseases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1148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4DC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41605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an advisory prototype that supplements, never replaces, licensed extension officers.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Pipeline: From Leaf Image to Cited Advisory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1335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15361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Image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20299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resize, 224 crop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8528" y="184708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48840" y="128016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21992" y="1335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15361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Classification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2221992" y="20299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MobileNetV3-Large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30168" y="184708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840480" y="128016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13632" y="1335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913632" y="15361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/ Disease Metadata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913632" y="20299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+ Top-2, confidence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21808" y="184708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532120" y="128016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F4D3A"/>
          </a:solidFill>
          <a:ln w="12700">
            <a:solidFill>
              <a:srgbClr val="1F4D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05272" y="1335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605272" y="15361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605272" y="20299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features.16 heatmap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013448" y="184708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223760" y="128016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96912" y="1335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296912" y="153619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Metadata-Conditioned Retrieval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296912" y="202996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guardrail, τ = 0.45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303020" y="27889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376172" y="2843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376172" y="304495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376172" y="35387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vector similarity search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784348" y="335584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2994660" y="27889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1B6F7A"/>
          </a:solidFill>
          <a:ln w="12700">
            <a:solidFill>
              <a:srgbClr val="1B6F7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067812" y="2843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3067812" y="304495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Evidence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3067812" y="35387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 passages, 11 bulletins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475988" y="335584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4686300" y="27889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59452" y="2843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4759452" y="304495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Extractive Synthesis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4759452" y="35387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text, no free generation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167628" y="3355848"/>
            <a:ext cx="192024" cy="0"/>
          </a:xfrm>
          <a:prstGeom prst="line">
            <a:avLst/>
          </a:prstGeom>
          <a:noFill/>
          <a:ln w="22225">
            <a:solidFill>
              <a:srgbClr val="5B6B64"/>
            </a:solidFill>
            <a:prstDash val="solid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6377940" y="2788920"/>
            <a:ext cx="1463040" cy="1143000"/>
          </a:xfrm>
          <a:prstGeom prst="roundRect">
            <a:avLst>
              <a:gd name="adj" fmla="val 64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51092" y="2843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6451092" y="3044952"/>
            <a:ext cx="13167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Urdu Advisory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6451092" y="3538728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source citations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321040" y="2423160"/>
            <a:ext cx="0" cy="182880"/>
          </a:xfrm>
          <a:prstGeom prst="line">
            <a:avLst/>
          </a:prstGeom>
          <a:noFill/>
          <a:ln w="19050">
            <a:solidFill>
              <a:srgbClr val="5B6B6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output conditions retrieval: predicted crop and disease filter the FAISS search (cross-crop contamination 13.33% → 0%).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Leak-Controlled Benchmark: 9,175 Images, 11 Classes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9,175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images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PlantVillage-style taxonomy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146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4 · Maize 4 · Potato 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70/15/15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6,422 / 1,376 / 1,377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29400" y="11887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1261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1691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leaf clusters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18836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splits (tested)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3317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2441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safeguards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2770632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4360" y="27889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grouped by leaf session (file-naming pattern)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dHash; Hamming distance ≤ 4 forced into one partition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Group-stratified split (GroupKFold on leaf_id)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cross-entropy for imbalance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331720"/>
          <a:ext cx="4023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Scab, Black rot, Cedar rust, 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2,220 / 475 / 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Gray leaf spot, Common rust, N. blight, 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2,694 / 580 / 578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blight, Late blight, Healthy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1,508 / 321 / 323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 txBox="1"/>
          <p:nvPr/>
        </p:nvSpPr>
        <p:spPr>
          <a:xfrm>
            <a:off x="466344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missed by both checks cannot be excluded.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MobileNetV3-Large vs. EfficientNet-B0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(held-out test set, N = 1,377)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MobileNetV3-Large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macro-F1 (selection criterion)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Top-1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97.53% (1,343)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95.06% (1,309)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Top-2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99.78% (1,374)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99.35% (1,368)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macro-F1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calibration error (ECE)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latency per image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28.38 ms (35.2 FPS)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48.01 ms (20.8 FPS)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/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4.22 M / 16.28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4.02 M / 15.63 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training protocol for both: seed 42, AdamW, cosine-annealed LR, class-weighted loss, ≤10 epochs. Model chosen on validation macro-F1 before test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PERFORMANCE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 on the Held-Out Test Set (N = 1,377)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618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97.53%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836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1,343 / 1,377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2677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99.78%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697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1,374 / 1,377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20040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2735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0.9657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033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8953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classes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2011680" y="11887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errors: none cross-crop; 23 are maize gray leaf spot ↔ northern leaf blight.</a:t>
            </a:r>
            <a:endParaRPr lang="en-US" sz="1100" dirty="0"/>
          </a:p>
        </p:txBody>
      </p:sp>
      <p:pic>
        <p:nvPicPr>
          <p:cNvPr id="20" name="Image 0" descr="c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1040" y="1097280"/>
            <a:ext cx="3688080" cy="30175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4DC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94360" y="4251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97.53% is held-out test-set performance, not real-world KP field accuracy. Requires Field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Grad-CAM: Showing Where the Model Looked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7" name="Image 0" descr="g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638" y="1097280"/>
            <a:ext cx="1352804" cy="35661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0" y="118872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880360" y="1298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Grad-CAM does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2880360" y="162763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image regions that most increased the predicted class score, using gradients at the final convolutional layer (7×7×960). No architecture change is needed.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743200" y="27889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Lesion-centred salience on disease classes; diffuse on healthy leaves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opacity adjustable live in the interface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7×7 grid: regional evidence, not biological proof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CHECK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Randomisation Sanity Check (4 Images)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pic>
        <p:nvPicPr>
          <p:cNvPr id="7" name="Image 0" descr="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9329"/>
            <a:ext cx="3657600" cy="3562061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18872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(4 images)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Maize gray leaf spot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−0.0410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 early blight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scab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 healthy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389120" y="2743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0.0000 for all four (degenerate: randomised maps are constant).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57200" y="329184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FFF4DC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" y="33375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maps depend on learned weights. Evidence is limited to four images.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RAG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Source-Constrained Advisory Architecture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Metadata-conditioned retrieval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2763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crop and disease form the query and filter the search. Key contribution: removes cross-crop leakage.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8980" y="11887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0614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(local)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06140" y="162763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inner-product vector similarity search over 384-d MiniLM embeddings. Runs on CPU, offline.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18872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extraction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2763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structured sections from retrieved passages and attaches the citation. No free text generation.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Extension bulletins (ARI Tarnab, CCRI Pirsabak, PRC Abbottabad, KP Agri Ext.)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Passages (≤500 chars, 50 overlap)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Out-of-scope crops rejected (cotton, wheat, sugarcane, citrus)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Results (33 Domain Queries)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96.97%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146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Hit@3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0.9848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29400" y="11887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1261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21.84 ms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1691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latency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18836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search, CPU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3774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436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 ablation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2816352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94360" y="2834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13.33%  →  0%</a:t>
            </a:r>
            <a:endParaRPr lang="en-US" sz="3400" dirty="0"/>
          </a:p>
        </p:txBody>
      </p:sp>
      <p:sp>
        <p:nvSpPr>
          <p:cNvPr id="27" name="Text 24"/>
          <p:cNvSpPr txBox="1"/>
          <p:nvPr/>
        </p:nvSpPr>
        <p:spPr>
          <a:xfrm>
            <a:off x="594360" y="3611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cross-crop contamination, unfiltered vs. vision-conditioned retrieval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237744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00600" y="2487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advisory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800600" y="2816352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00600" y="27889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15-case advisory benchmark: groundedness, citation correctness and faithfulness all 100%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by construction: verifies the implementation, not a generative model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constraint is coverage of the 11 bulletins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Application: English / Urdu Advisory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and explanation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27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and Top-2 diagnoses with confidence; Grad-CAM overlay with opacity slider; Top-2 always shown because maize confusions dominate.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Tabbed, cited advisory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6276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likely cause, integrated management, cultural prevention and crop-stage guidance, each with its KP-AGRI source ID.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Entity-preserving Urdu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4107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33-term glossary; Latin binomials and citation keys restored verbatim after translation; right-to-left layout with Noto Nastaliq.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and follow-up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41071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crops are rejected; follow-up question box answers only from the knowledge base.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DEMONSTRATION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Pipeline on 17 Cases (CPU)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/ 17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unhandled exceptions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146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5146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13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25146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correct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5146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canonical + 1 of 2 difficult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0" y="11887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83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crops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29400" y="118872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9400" y="1261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184.22 ms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169164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188366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P95 271.51 ms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inference (MobileNetV3)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116.52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retrieval (top-3)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synthesis (EN)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Urdu localisation + RTL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B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Requirements for Field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classification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crops, 11 classes. An unseen crop or nutrient deficiency is forced into the nearest class; softmax may be overconfident on non-leaf inputs.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898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0614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40614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are controlled laboratory captures; glare, weeds, blur and co-infections may reduce performance.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80760" y="11887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prospective KP field validation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2763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accuracy is an upper bound. Requires Field Validation before any field-readiness claim.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Grad-CAM validation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649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 on four images; 7×7 map is coarse and does not establish biological causality.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6898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06140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Limited, static knowledge base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06140" y="33649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covers 11 bulletins only; end-to-end (17) and advisory (15) sets are small.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076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0358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only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336499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products carry toxicological and environmental risk; supplements licensed on-site assessment.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Contributes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Leak-controlled benchmark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62763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9,175 images, leaf-group isolation + dHash; MobileNetV3-L vs EfficientNet-B0 with calibration (held-out test: 97.53%, ECE 1.40%).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Sanity-checked Grad-CAM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62763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on a lightweight backbone, with a randomisation check on four images and limitations reported.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Metadata-conditioned retrieval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341071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output filters FAISS search: cross-crop contamination 13.33% → 0%; Hit@1 96.97%, MRR 0.9848.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3F7F4"/>
          </a:solidFill>
          <a:ln w="9525">
            <a:solidFill>
              <a:srgbClr val="D5E1D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Source-constrained advisory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00600" y="341071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extractive synthesis with citations; entity-preserving English–Urdu localisation; guardrail rejects unsupported crops.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4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and Questions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 Smart Crop Doctor  |  Saqib Hussain  |  IM|Sciences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FD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in-situ field dataset (Swat, Mardan, Abbottabad) for domain adaptation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of wheat stripe rust, sugarcane red rot and citrus canker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Open-set rejection class for non-target inputs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Pashto speech interface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ONNX / TFLite export for Android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0" y="11887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2A6049"/>
          </a:solidFill>
          <a:ln w="9525">
            <a:solidFill>
              <a:srgbClr val="4F8A6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23560" y="132588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EDSIY-KP · Package G6 – AI &amp; ML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· 144 contact hours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weeks: 3 sessions × 4 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online delivery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aged 18–35 from KP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 Smart Crop Doctor - Final Defense</dc:title>
  <dc:subject>PptxGenJS Presentation</dc:subject>
  <dc:creator>Saqib Hussain</dc:creator>
  <cp:lastModifiedBy>Saqib Hussain</cp:lastModifiedBy>
  <cp:revision>1</cp:revision>
  <dcterms:created xsi:type="dcterms:W3CDTF">2026-10-02T10:58:08Z</dcterms:created>
  <dcterms:modified xsi:type="dcterms:W3CDTF">2026-10-02T10:58:08Z</dcterms:modified>
</cp:coreProperties>
</file>